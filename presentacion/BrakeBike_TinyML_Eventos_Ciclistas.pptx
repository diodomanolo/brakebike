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09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3" Type="http://schemas.microsoft.com/office/2007/relationships/media" Target="../media/media2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3.png"/><Relationship Id="rId5" Type="http://schemas.microsoft.com/office/2007/relationships/media" Target="../media/media3.mp4"/><Relationship Id="rId10" Type="http://schemas.openxmlformats.org/officeDocument/2006/relationships/image" Target="../media/image12.png"/><Relationship Id="rId4" Type="http://schemas.openxmlformats.org/officeDocument/2006/relationships/video" Target="../media/media2.mp4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ntaje final.jpeg"/>
          <p:cNvPicPr>
            <a:picLocks noChangeAspect="1"/>
          </p:cNvPicPr>
          <p:nvPr/>
        </p:nvPicPr>
        <p:blipFill>
          <a:blip r:embed="rId3"/>
          <a:srcRect l="15600" r="15600"/>
          <a:stretch/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234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BrakeBike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58368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Detector TinyML de eventos ciclistas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76656" y="24231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Arduino Nano 33 BLE Sense · IMU · Edge Impulse · inferencia en tiempo real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3232" y="32461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33192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frenada fuerte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04288" y="32461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9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95728" y="33192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subir bordillo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77056" y="32461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94A3B8">
              <a:alpha val="92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68496" y="33192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3232" y="5074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Montaje final sobre manillar: el sistema clasifica ventanas de movimiento y activa LEDs de aviso.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prototipo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Taxonomía estrecha y demostrable para una demo TinyML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5" name="Image 0" descr="/mnt/data/montaje final.jpeg"/>
          <p:cNvPicPr>
            <a:picLocks noChangeAspect="1"/>
          </p:cNvPicPr>
          <p:nvPr/>
        </p:nvPicPr>
        <p:blipFill>
          <a:blip r:embed="rId3"/>
          <a:srcRect l="14457" r="14457"/>
          <a:stretch/>
        </p:blipFill>
        <p:spPr>
          <a:xfrm>
            <a:off x="6537960" y="1051560"/>
            <a:ext cx="4983480" cy="5257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417320"/>
            <a:ext cx="5212080" cy="960120"/>
          </a:xfrm>
          <a:prstGeom prst="roundRect">
            <a:avLst>
              <a:gd name="adj" fmla="val 11429"/>
            </a:avLst>
          </a:prstGeom>
          <a:solidFill>
            <a:srgbClr val="1E293B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627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5E7EB"/>
                </a:solidFill>
              </a:rPr>
              <a:t>Detectar eventos en la bici con una IMU fija en el manillar/potencia.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269748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907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Clases finales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• normal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• frenada_fuerte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• subir_bordillo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45262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</a:rPr>
              <a:t>Se eliminó frenada_suave al ver que se solapaba con normal.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532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BDF8"/>
                </a:solidFill>
              </a:rPr>
              <a:t>100 Hz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31520" y="6190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</a:rPr>
              <a:t>muestreo IMU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77440" y="5532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</a:rPr>
              <a:t>1,5 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286000" y="6190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</a:rPr>
              <a:t>ventana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86200" y="5532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6 ejes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794760" y="6190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</a:rPr>
              <a:t>acc + gyro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Captura de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Arduino envía la IMU por Serial y Python genera CSV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58368" y="5806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 err="1">
                <a:solidFill>
                  <a:srgbClr val="E5E7EB"/>
                </a:solidFill>
              </a:rPr>
              <a:t>Portátil</a:t>
            </a:r>
            <a:r>
              <a:rPr lang="en-US" sz="1200" b="1" dirty="0">
                <a:solidFill>
                  <a:srgbClr val="E5E7EB"/>
                </a:solidFill>
              </a:rPr>
              <a:t> </a:t>
            </a:r>
            <a:r>
              <a:rPr lang="en-US" sz="1200" b="1" dirty="0" err="1">
                <a:solidFill>
                  <a:srgbClr val="E5E7EB"/>
                </a:solidFill>
              </a:rPr>
              <a:t>en</a:t>
            </a:r>
            <a:r>
              <a:rPr lang="en-US" sz="1200" b="1" dirty="0">
                <a:solidFill>
                  <a:srgbClr val="E5E7EB"/>
                </a:solidFill>
              </a:rPr>
              <a:t> mochila: script Python </a:t>
            </a:r>
            <a:r>
              <a:rPr lang="en-US" sz="1200" b="1" dirty="0" err="1">
                <a:solidFill>
                  <a:srgbClr val="E5E7EB"/>
                </a:solidFill>
              </a:rPr>
              <a:t>leyendo</a:t>
            </a:r>
            <a:r>
              <a:rPr lang="en-US" sz="1200" b="1" dirty="0">
                <a:solidFill>
                  <a:srgbClr val="E5E7EB"/>
                </a:solidFill>
              </a:rPr>
              <a:t> COM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407408" y="5806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</a:rPr>
              <a:t>Nano 33 BLE Sense </a:t>
            </a:r>
            <a:r>
              <a:rPr lang="en-US" sz="1200" b="1" dirty="0" err="1">
                <a:solidFill>
                  <a:srgbClr val="E5E7EB"/>
                </a:solidFill>
              </a:rPr>
              <a:t>fija</a:t>
            </a:r>
            <a:r>
              <a:rPr lang="en-US" sz="1200" b="1" dirty="0">
                <a:solidFill>
                  <a:srgbClr val="E5E7EB"/>
                </a:solidFill>
              </a:rPr>
              <a:t> </a:t>
            </a:r>
            <a:r>
              <a:rPr lang="en-US" sz="1200" b="1" dirty="0" err="1">
                <a:solidFill>
                  <a:srgbClr val="E5E7EB"/>
                </a:solidFill>
              </a:rPr>
              <a:t>en</a:t>
            </a:r>
            <a:r>
              <a:rPr lang="en-US" sz="1200" b="1" dirty="0">
                <a:solidFill>
                  <a:srgbClr val="E5E7EB"/>
                </a:solidFill>
              </a:rPr>
              <a:t> </a:t>
            </a:r>
            <a:r>
              <a:rPr lang="en-US" sz="1200" b="1" dirty="0" err="1">
                <a:solidFill>
                  <a:srgbClr val="E5E7EB"/>
                </a:solidFill>
              </a:rPr>
              <a:t>el</a:t>
            </a:r>
            <a:r>
              <a:rPr lang="en-US" sz="1200" b="1" dirty="0">
                <a:solidFill>
                  <a:srgbClr val="E5E7EB"/>
                </a:solidFill>
              </a:rPr>
              <a:t> </a:t>
            </a:r>
            <a:r>
              <a:rPr lang="en-US" sz="1200" b="1" dirty="0" err="1">
                <a:solidFill>
                  <a:srgbClr val="E5E7EB"/>
                </a:solidFill>
              </a:rPr>
              <a:t>manillar</a:t>
            </a:r>
            <a:endParaRPr lang="en-US" sz="1200" b="1" dirty="0">
              <a:solidFill>
                <a:srgbClr val="E5E7EB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8156448" y="5806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</a:rPr>
              <a:t>CSV por grabación: timestamp + 6 señales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58368" y="629107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Formato: timestamp, accX, accY, accZ, gyrX, gyrY, gyrZ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5D7E901-95EA-525D-D49F-2641AD477C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39" r="9531"/>
          <a:stretch/>
        </p:blipFill>
        <p:spPr>
          <a:xfrm>
            <a:off x="214799" y="1358561"/>
            <a:ext cx="3900001" cy="4164415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9808BF18-F10A-C142-70F1-F7ECED22AEB1}"/>
              </a:ext>
            </a:extLst>
          </p:cNvPr>
          <p:cNvSpPr/>
          <p:nvPr/>
        </p:nvSpPr>
        <p:spPr>
          <a:xfrm>
            <a:off x="338328" y="1425951"/>
            <a:ext cx="32004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54748C9-E25E-3F97-D88F-9ACED3EBD1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18" t="113" r="11395" b="-16305"/>
          <a:stretch/>
        </p:blipFill>
        <p:spPr>
          <a:xfrm>
            <a:off x="4160726" y="1344168"/>
            <a:ext cx="3885788" cy="4870621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1859485D-09EA-C077-C8FB-15744FAE38FA}"/>
              </a:ext>
            </a:extLst>
          </p:cNvPr>
          <p:cNvSpPr/>
          <p:nvPr/>
        </p:nvSpPr>
        <p:spPr>
          <a:xfrm>
            <a:off x="4268539" y="1425951"/>
            <a:ext cx="32004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CCEDDB8-D782-6BE8-F2AF-9CE93A8E8F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65" t="214" r="14037" b="-993"/>
          <a:stretch/>
        </p:blipFill>
        <p:spPr>
          <a:xfrm>
            <a:off x="8102160" y="1350116"/>
            <a:ext cx="3875041" cy="4227724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C010BCA6-6620-F67C-BED9-635FE9E2F867}"/>
              </a:ext>
            </a:extLst>
          </p:cNvPr>
          <p:cNvSpPr/>
          <p:nvPr/>
        </p:nvSpPr>
        <p:spPr>
          <a:xfrm>
            <a:off x="8232719" y="1425951"/>
            <a:ext cx="32004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Preparación del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Grabaciones largas → ventanas limpias de evento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788920"/>
            <a:ext cx="9966960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914400" cy="9144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Grabar 60 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varios eventos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por clase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331720"/>
            <a:ext cx="914400" cy="9144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Split sample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segmentos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de 1500 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331720"/>
            <a:ext cx="914400" cy="9144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Etiquetar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solo ventanas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limpias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2331720"/>
            <a:ext cx="914400" cy="914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638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Train/Test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balanceado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y validado</a:t>
            </a:r>
            <a:endParaRPr lang="en-US" sz="1200" dirty="0"/>
          </a:p>
        </p:txBody>
      </p:sp>
      <p:pic>
        <p:nvPicPr>
          <p:cNvPr id="22" name="Image 0" descr="/mnt/data/separacion de caracteristicas en entrenamiento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56101"/>
            <a:ext cx="3200400" cy="136118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251960" y="51023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Separación final de características: normal, frenada fuerte y subir bordillo quedan separados.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251960" y="5742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La selección manual de ventanas evita entrenar con tramos de rodaje normal dentro de clases de evento.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del impulso en Edge Impulse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Decisiones de procesado y modelo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38BDF8">
              <a:alpha val="93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Time series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1500 ms · 100 Hz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79192" y="1965960"/>
            <a:ext cx="7772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14B8A6">
              <a:alpha val="93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Spectral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84448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low-pass + FFT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68112" y="1965960"/>
            <a:ext cx="7772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22C55E">
              <a:alpha val="9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3368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red densa ligera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57032" y="1965960"/>
            <a:ext cx="7772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141732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59E0B">
              <a:alpha val="9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Arduino library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62288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int8 quantized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3246120"/>
            <a:ext cx="4846320" cy="1508760"/>
          </a:xfrm>
          <a:prstGeom prst="roundRect">
            <a:avLst>
              <a:gd name="adj" fmla="val 7273"/>
            </a:avLst>
          </a:prstGeom>
          <a:solidFill>
            <a:srgbClr val="1E293B">
              <a:alpha val="9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Entrada elegida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7552" y="3886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accX, accY, accZ, gyrX, gyrY, gyrZ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42976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 descartó magnetómetro: no aporta a eventos rápidos y puede meter ruido.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3246120"/>
            <a:ext cx="4846320" cy="1508760"/>
          </a:xfrm>
          <a:prstGeom prst="roundRect">
            <a:avLst>
              <a:gd name="adj" fmla="val 7273"/>
            </a:avLst>
          </a:prstGeom>
          <a:solidFill>
            <a:srgbClr val="1E293B">
              <a:alpha val="9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Motivo de Spectral Analysis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02552" y="38862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Extrae energía y patrones de frecuencia en ventanas, con bajo coste para microcontrolador.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Clasificador compacto + cuantización int8 para Nano 33 BLE Sense.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Decisión: quitar frenada suave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El análisis mostró solape fuerte con normal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5" name="Image 0" descr="/mnt/data/ConfusionMatrix_Entrenamiento con frenada su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950" y="819402"/>
            <a:ext cx="4073236" cy="3008238"/>
          </a:xfrm>
          <a:prstGeom prst="rect">
            <a:avLst/>
          </a:prstGeom>
        </p:spPr>
      </p:pic>
      <p:pic>
        <p:nvPicPr>
          <p:cNvPr id="6" name="Image 1" descr="/mnt/data/muestras feature explores con frenada su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54" y="3900793"/>
            <a:ext cx="5182047" cy="28803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0" y="3931920"/>
            <a:ext cx="49834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629400" y="4160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Problema detectado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629400" y="45720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frenada_suave no tiene una firma IMU clara en manillar. En validación se confundía con normal y degradaba el modelo.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6629400" y="5669280"/>
            <a:ext cx="4206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29400" y="58247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Decisión técnica: reducir la taxonomía para una demo robusta.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06</a:t>
            </a:r>
            <a:endParaRPr lang="en-US" sz="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C326DAB-2343-38A1-F2F9-3662743E2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5258" y="685799"/>
            <a:ext cx="5217145" cy="31264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final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Tres clases con separación clara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5" name="Image 0" descr="/mnt/data/ConfusionMatrix_Entrenamient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56" y="1182104"/>
            <a:ext cx="3551114" cy="2445537"/>
          </a:xfrm>
          <a:prstGeom prst="rect">
            <a:avLst/>
          </a:prstGeom>
        </p:spPr>
      </p:pic>
      <p:pic>
        <p:nvPicPr>
          <p:cNvPr id="6" name="Image 1" descr="/mnt/data/ConfusionMatrix_ModelTesting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610" y="261684"/>
            <a:ext cx="5965420" cy="3386772"/>
          </a:xfrm>
          <a:prstGeom prst="rect">
            <a:avLst/>
          </a:prstGeom>
        </p:spPr>
      </p:pic>
      <p:pic>
        <p:nvPicPr>
          <p:cNvPr id="7" name="Image 2" descr="/mnt/data/separacion de caracteristicas en entrenamiento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25" y="4129930"/>
            <a:ext cx="5353322" cy="227685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46520" y="397764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102A4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629400" y="4224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Resultado final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629400" y="4617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Validación interna: 100 %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Model testing: 95,83 %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29400" y="5321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El único error del test es una frenada fuerte clasificada como normal.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629400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720840" y="58795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frenada_fuerte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8275320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9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366760" y="58795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subir_bordillo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9921240" y="58064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94A3B8">
              <a:alpha val="92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012680" y="5879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final en Arduino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Inferencia local + umbrales ajustables + LEDs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1E293B">
              <a:alpha val="9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447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Ventana de captura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18470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LED verde externo encendido durante los 1500 ms de muestreo.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Umbrales finales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31272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TH_FRENADA_FUERTE = 0.90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TH_SUBIR_BORDILLO = 0.65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TH_NORMAL = 0.50 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976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1E293B">
              <a:alpha val="9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498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Salidas de la demo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6112" y="48920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normal/desconocido → RGB blanco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frenada fuerte → RGB rojo + LED rojo externo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subir bordillo → RGB verde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Funcionamiento en vídeo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Tres pruebas reales del sistema montado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85800" y="1325880"/>
            <a:ext cx="3520440" cy="2743200"/>
          </a:xfrm>
          <a:prstGeom prst="rect">
            <a:avLst/>
          </a:prstGeom>
        </p:spPr>
      </p:pic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343400" y="1325880"/>
            <a:ext cx="3520440" cy="2743200"/>
          </a:xfrm>
          <a:prstGeom prst="rect">
            <a:avLst/>
          </a:prstGeom>
        </p:spPr>
      </p:pic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001000" y="1325880"/>
            <a:ext cx="3520440" cy="2743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343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▶ frenada fuerte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34840" y="4343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▶ subir bordillo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092440" y="4343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▶ normal + frenada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El LED verde externo indica captura; el rojo externo indica alarma de frenada fuerte.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Prototipo funcional y decisiones justificadas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9202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Qué se consigue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Dataset propio de bici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Modelo Edge Impulse desplegado en Nano 33 BLE Sense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Inferencia local sin ordenador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Salidas visuales claras por evento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Limitaciones y futuro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Frenada suave requiere sensor o dataset mejor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La versión actual clasifica por ventanas no solapadas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Futuro: buffer circular + BLE/móvil para alerta remota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5989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Decisión clave: menos clases, mejor fiabilidad en la demo.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20272" y="6382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610</Words>
  <Application>Microsoft Office PowerPoint</Application>
  <PresentationFormat>Panorámica</PresentationFormat>
  <Paragraphs>130</Paragraphs>
  <Slides>10</Slides>
  <Notes>10</Notes>
  <HiddenSlides>0</HiddenSlides>
  <MMClips>3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UNIZAR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BrakeBike - Detector de eventos ciclistas</dc:title>
  <dc:subject>Detector TinyML de eventos ciclistas con Arduino Nano 33 BLE Sense y Edge Impulse</dc:subject>
  <dc:creator>Manuel Gómez</dc:creator>
  <cp:lastModifiedBy>Manuel Gómez Domingo</cp:lastModifiedBy>
  <cp:revision>4</cp:revision>
  <dcterms:created xsi:type="dcterms:W3CDTF">2026-05-26T17:21:30Z</dcterms:created>
  <dcterms:modified xsi:type="dcterms:W3CDTF">2026-05-26T17:45:06Z</dcterms:modified>
</cp:coreProperties>
</file>